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【0:00–0:05】各位好，我今天汇报的项目是《医院门诊号源预约与候补系统》。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【0:05–1:05 · 自我介绍 · 约 60 秒】
各位好，我是【你的名字】，来自生科 2403 班，目前大二。
我的编程起点其实挺晚的——真正开始认真写，是从这学期的 C 语言课程设计开始的，最后拿了 92 分。做完那个之后我意识到一件事：写出来的东西如果没人用，就只是一份作业。
所以我开始往外做。先是拿 GD32H7 和 LVGL 做了一个店铺销售管理系统，管生鲜、水果、零食、日用品四类商品；也给平时玩的游戏写了自动挂机脚本。这两个项目教会我的东西不太一样：前者让我真正理解了内存管理，后者让我第一次体会到「程序是可以用来偷懒的」。
这次考核的项目，是我目前做得最完整的一个——从数据库设计、后端接口、前端页面，到并发验证，全是自己一步步搭起来的。
Python 是我这学期开始自学的，也是下学期的课。接下来打算继续深入，也准备加入 ONE 竞赛社团。
我希望加入咱们组，跟着大家做真正有人用的东西。谢谢。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20 秒】今天不讲框架清单，讲四个设计决策：数据怎么存、状态怎么算、并发怎么防、规则怎么加。核心是「为什么」。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20 秒】先给个量级感受。20 位医生、16 个科室、67 条排班、1709 个号源。这里有个刻意的设计：日期是相对今天动态生成的，所以任何时候重建，数据都落在未来——将来要加「不能预约过去日期」的校验，不会被自己的种子数据坑到。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28 秒】四层，单向依赖：前端只渲染，路由层只管参数、事务和错误码，服务层是唯一算业务规则和状态的地方，数据层用约束兜底。
这个结构带来一个直接好处：我在服务层加一条规则，四个页面同时生效，不存在「某个页面忘了改」的情况。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36 秒】三张表，各回答一个问题：排班是号源池，预约是谁拿了哪个号，候补是谁在排队。
关键是这四条约束。注意——它们只管单表内部，跨表的「同人同天同科室限一号」它们管不到，那部分得靠应用层加校验，这点后面会讲到。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秒】这是整个项目最关键的一条纪律。
反面情况是：列表页算一遍剩余号、详情页算一遍、前端又按剩余数判断能不能约。三处口径一旦不一致，用户就会看到「还有号」，点进去却报「已约满」。
我的做法是只留一个出口 slot_status.py，其他模块一律消费它的输出。前端连中文都不自己拼，直接拿后端给的 status_label。
顺带说一句无障碍：状态用颜色 + 符号 + 文字三重编码。只靠颜色的话，红绿色盲看到的是四个一样的灰块，黑白打印直接失效。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60 秒 · 全篇重点】这是我最想讲清楚的一页。
第一层是条件 UPDATE：不是先 SELECT 看看有没有号再决定，而是把 booked_count &lt; total_slots 直接写进 WHERE，看受影响行数。前者在并发下会有窗口，后者不会。
第二层是 BEGIN IMMEDIATE：进事务就立刻拿写锁，并发请求会排队而不是互相踩踏。所有改号源的动作都走它。
第三层是部分唯一索引：这是最后兜底。就算我前面两层都写错了，数据库也不会让我把两个人的号插在同一个序号上——宁可报 500，也不能产生脏数据。
关键在于：这三层是各司其职的，不是重复劳动。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50 秒】左边是预约，右边是退号递补。
重点看右边：用户退号那一刻，释放号源、找队首、防黄牛校验、生成待确认记录、记账——这五件事必须在同一个 BEGIN IMMEDIATE 事务里完成。否则中间任何一个环节失败，就会出现「号释放了但没递补出去」或者「递补了但记账没跟上」。
另外一个细节：递补出来的是 pending 待确认，不是直接 booked。因为号是别人退的，得让这个人确认自己还要不要——15 分钟内不确认就作废顺延。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32 秒】确认超时和爽约判定，本质都是「到了某个时刻去改状态」。
我的选择是不起后台定时任务——这是一个演示项目，多一个进程就多一份运维负担，而且定时任务在演示时反而不可控。
改成惰性结算：等下一个相关请求进来，顺手把该结算的结算掉。四个触发点：预约、退号、我的预约，再加一个手动入口 admin/settle 专门给答辩演示用。
这里踩过一个坑，值得说：确认接口里如果「先结算、再校验」，校验抛异常会把整个事务一起回滚——刚刚作废的号又活了过来。所以必须拆成两个事务：先结算并提交，再开第二个事务做判断。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32 秒】加分项原本是三选二，我五个都做了。
原因很实在：这五个规则本质上都是「超时判定」，共用同一套机制，做完第一个之后，剩下四个的边际成本很低。
而且它们共用一个语义，所以阈值全收在 policy.py 一处，测试全走 clock.py 拨时间——没有一处需要真的等 15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22 秒】这两块地基是先建的，再动功能。
如果没有它们，五条超时规则就得写五套时间处理逻辑，而且每条都没法测——总不能真的等 15 分钟再看结果。
有了 clock.py，测试里 advance(16) 就能验证「超时后作废并顺延」。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22 秒】三条我觉得值得讲的验证手段。
第一，一致性检查配了 4 个变异体——故意把代码改错，看检查会不会变红。一个永远绿的检查等于没有检查。
第二，并发测试不用 TestClient。它会把并发请求串行化，十个人「同时」抢号在它眼里是依次执行，这样测出来永远是绿的。所以我起真实 uvicorn 进程，用 Barrier 让所有线程同一时刻发起请求。
第三，四项自洽性校验内置进了 reset_db.py，每次重建数据库都会自检一遍。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秒】最后讲点不那么好看的。
左边：我栽过三次，而且栽的是同一个地方——错误码漏登记、测试工具硬编码状态清单、文档契约滞后。共同点是：改动扩散到了一个没人提醒你的地方，而那里恰恰是别人唯一的依据。所以后面我才坚持「文档里的命令要真跑一遍」。
右边：我没做的部分，主动交代。不做真实鉴权、管理接口无鉴权、结算是惰性的、SQLite 单文件。这些是取舍不是遗漏——但如果要上公网，每一条都得重新评估。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15 秒】三句话总结：一个正确的核心，一条可靠的防线，一种可测的设计。谢谢，欢迎提问。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数媒程序开发组 · 10 月考核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6459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医院门诊号源预约与候补系统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B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号源有限　·　候补自动递补　·　实名校验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52578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【你的名字】　·　生科 2403 班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760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github.com/mzy13995318878/hospital-appointment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372600" y="1874520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E9F7EF"/>
          </a:solidFill>
          <a:ln w="9525">
            <a:solidFill>
              <a:srgbClr val="2F85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72600" y="18745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　可约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372600" y="2569464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F1F2F4"/>
          </a:solidFill>
          <a:ln w="9525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72600" y="256946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　已满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72600" y="3264408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FDF2E7"/>
          </a:solidFill>
          <a:ln w="9525">
            <a:solidFill>
              <a:srgbClr val="C05621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72600" y="32644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　候补中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72600" y="3959352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FDEAEA"/>
          </a:solidFill>
          <a:ln w="9525">
            <a:solidFill>
              <a:srgbClr val="C5303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72600" y="39593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　已停诊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自我介绍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分钟 · 我是谁 / 我会什么 / 我做过什么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572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基本信息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011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　　名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810512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【待你确认】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377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学院专业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810512" y="2377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生命科学学院 · 生物科学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27432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班　　级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10512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生科 2403 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3108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　　级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810512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大二（2024 级）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98848" y="1389888"/>
            <a:ext cx="7123176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36592" y="15727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我目前会什么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36592" y="1975104"/>
          <a:ext cx="6665976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  <a:gridCol w="2185416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方向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到什么程度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拿什么证明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语言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能独立完成一个完整项目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本学期课程设计 92 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嵌入式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MCU + 图形库做带界面的系统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GD32H7 + LVGL 销售管理系统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自学中，能独立搭 Web 后端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本次考核项目（FastAPI）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设计表、写事务、处理并发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本次考核项目（SQLite）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66928" y="3785616"/>
            <a:ext cx="11055096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4672" y="39502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做过的东西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41248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▍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15568" y="431596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店铺销售管理系统（GD32H7 + LVGL）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15568" y="457200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管理生鲜、水果、零食、日用品四类商品；最大的收获是真正理解了 C 语言的内存管理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1248" y="4901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▍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15568" y="490118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游戏「死斗」模式自动挂机脚本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15568" y="515721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第一次为了「解决自己的问题」而写程序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41248" y="5486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▍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15568" y="548640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医院门诊号源预约与候补系统（本次）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115568" y="57424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目前最完整的一个：数据库 → 接口 → 页面 → 并发验证，全部自己搭起来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接下来的 6 分钟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不讲「用了什么框架」，讲「为什么这么设计」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39038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09344"/>
            <a:ext cx="420624" cy="420624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09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96" dirty="0"/>
          </a:p>
        </p:txBody>
      </p:sp>
      <p:sp>
        <p:nvSpPr>
          <p:cNvPr id="7" name="Text 5"/>
          <p:cNvSpPr/>
          <p:nvPr/>
        </p:nvSpPr>
        <p:spPr>
          <a:xfrm>
            <a:off x="1335024" y="1627632"/>
            <a:ext cx="44302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数据怎么存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212848"/>
            <a:ext cx="4841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三张核心表各自负责什么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2560320"/>
            <a:ext cx="4841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四条数据库约束兜底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1636" y="1389888"/>
            <a:ext cx="539038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69380" y="1609344"/>
            <a:ext cx="420624" cy="420624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12" name="Text 10"/>
          <p:cNvSpPr/>
          <p:nvPr/>
        </p:nvSpPr>
        <p:spPr>
          <a:xfrm>
            <a:off x="6469380" y="1609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96" dirty="0"/>
          </a:p>
        </p:txBody>
      </p:sp>
      <p:sp>
        <p:nvSpPr>
          <p:cNvPr id="13" name="Text 11"/>
          <p:cNvSpPr/>
          <p:nvPr/>
        </p:nvSpPr>
        <p:spPr>
          <a:xfrm>
            <a:off x="6999732" y="1627632"/>
            <a:ext cx="44302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状态怎么算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05956" y="2212848"/>
            <a:ext cx="4841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五种号源状态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05956" y="2560320"/>
            <a:ext cx="4841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为什么只允许一处计算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657600"/>
            <a:ext cx="539038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877056"/>
            <a:ext cx="420624" cy="420624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96" dirty="0"/>
          </a:p>
        </p:txBody>
      </p:sp>
      <p:sp>
        <p:nvSpPr>
          <p:cNvPr id="19" name="Text 17"/>
          <p:cNvSpPr/>
          <p:nvPr/>
        </p:nvSpPr>
        <p:spPr>
          <a:xfrm>
            <a:off x="1335024" y="3895344"/>
            <a:ext cx="44302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并发怎么防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4480560"/>
            <a:ext cx="4841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号会不会卖超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1248" y="4828032"/>
            <a:ext cx="4841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三层防线，各司其职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31636" y="3657600"/>
            <a:ext cx="539038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69380" y="3877056"/>
            <a:ext cx="420624" cy="420624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24" name="Text 22"/>
          <p:cNvSpPr/>
          <p:nvPr/>
        </p:nvSpPr>
        <p:spPr>
          <a:xfrm>
            <a:off x="646938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96" dirty="0"/>
          </a:p>
        </p:txBody>
      </p:sp>
      <p:sp>
        <p:nvSpPr>
          <p:cNvPr id="25" name="Text 23"/>
          <p:cNvSpPr/>
          <p:nvPr/>
        </p:nvSpPr>
        <p:spPr>
          <a:xfrm>
            <a:off x="6999732" y="3895344"/>
            <a:ext cx="44302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规则怎么加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05956" y="4480560"/>
            <a:ext cx="4841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五个加分项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05956" y="4828032"/>
            <a:ext cx="4841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两条共用的基础设施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先看一眼规模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一家三甲医院一周门诊表的体量，不是 8 条样例数据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51434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37360"/>
            <a:ext cx="3514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2395728"/>
            <a:ext cx="3514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位医生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37304" y="1463040"/>
            <a:ext cx="351434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37304" y="1737360"/>
            <a:ext cx="3514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37304" y="2395728"/>
            <a:ext cx="3514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个科室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7680" y="1463040"/>
            <a:ext cx="351434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07680" y="1737360"/>
            <a:ext cx="3514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107680" y="2395728"/>
            <a:ext cx="3514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条排班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200400"/>
            <a:ext cx="351434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474720"/>
            <a:ext cx="3514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1709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66928" y="4133088"/>
            <a:ext cx="3514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个号源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37304" y="3200400"/>
            <a:ext cx="351434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37304" y="3474720"/>
            <a:ext cx="3514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811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337304" y="4133088"/>
            <a:ext cx="3514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位用户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7680" y="3200400"/>
            <a:ext cx="351434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07680" y="3474720"/>
            <a:ext cx="3514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746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107680" y="4133088"/>
            <a:ext cx="3514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条预约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864608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864608"/>
            <a:ext cx="10543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排班日期全部相对「今天」动态生成 —— 任何时候重建数据库，数据都落在未来。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四层结构，一条单向依赖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上层可以调下层，下层永远不知道上层的存在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36776"/>
            <a:ext cx="420624" cy="420624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96" dirty="0"/>
          </a:p>
        </p:txBody>
      </p:sp>
      <p:sp>
        <p:nvSpPr>
          <p:cNvPr id="7" name="Text 5"/>
          <p:cNvSpPr/>
          <p:nvPr/>
        </p:nvSpPr>
        <p:spPr>
          <a:xfrm>
            <a:off x="1353312" y="15361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 · 原生 HTML / CSS / JS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53312" y="1865376"/>
            <a:ext cx="9957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四个页面，零构建 —— 双击即开，答辩能逐行解释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66460" y="2304288"/>
            <a:ext cx="256032" cy="256032"/>
          </a:xfrm>
          <a:prstGeom prst="downArrow">
            <a:avLst/>
          </a:prstGeom>
          <a:solidFill>
            <a:srgbClr val="B8C4CC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2596896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2788920"/>
            <a:ext cx="420624" cy="420624"/>
          </a:xfrm>
          <a:prstGeom prst="ellipse">
            <a:avLst/>
          </a:prstGeom>
          <a:solidFill>
            <a:srgbClr val="14568F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96" dirty="0"/>
          </a:p>
        </p:txBody>
      </p:sp>
      <p:sp>
        <p:nvSpPr>
          <p:cNvPr id="13" name="Text 11"/>
          <p:cNvSpPr/>
          <p:nvPr/>
        </p:nvSpPr>
        <p:spPr>
          <a:xfrm>
            <a:off x="1353312" y="26883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路由层 · app/routers/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53312" y="3017520"/>
            <a:ext cx="9957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解析参数、开启事务、把异常翻译成统一错误码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66460" y="3456432"/>
            <a:ext cx="256032" cy="256032"/>
          </a:xfrm>
          <a:prstGeom prst="downArrow">
            <a:avLst/>
          </a:prstGeom>
          <a:solidFill>
            <a:srgbClr val="B8C4CC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3749040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941064"/>
            <a:ext cx="420624" cy="420624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96" dirty="0"/>
          </a:p>
        </p:txBody>
      </p:sp>
      <p:sp>
        <p:nvSpPr>
          <p:cNvPr id="19" name="Text 17"/>
          <p:cNvSpPr/>
          <p:nvPr/>
        </p:nvSpPr>
        <p:spPr>
          <a:xfrm>
            <a:off x="1353312" y="38404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服务层 · app/services/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53312" y="4169664"/>
            <a:ext cx="9957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业务规则与号源状态计算 —— 全局唯一的出口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66460" y="4608576"/>
            <a:ext cx="256032" cy="256032"/>
          </a:xfrm>
          <a:prstGeom prst="downArrow">
            <a:avLst/>
          </a:prstGeom>
          <a:solidFill>
            <a:srgbClr val="B8C4CC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" y="4901184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5093208"/>
            <a:ext cx="420624" cy="420624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5093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96" dirty="0"/>
          </a:p>
        </p:txBody>
      </p:sp>
      <p:sp>
        <p:nvSpPr>
          <p:cNvPr id="25" name="Text 23"/>
          <p:cNvSpPr/>
          <p:nvPr/>
        </p:nvSpPr>
        <p:spPr>
          <a:xfrm>
            <a:off x="1353312" y="49926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 · SQLite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53312" y="5321808"/>
            <a:ext cx="9957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约束 + 部分唯一索引 —— 最后一道兜底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三张核心表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每张表只回答一个问题，边界清楚才谈得上约束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581912"/>
            <a:ext cx="420624" cy="420624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96" dirty="0"/>
          </a:p>
        </p:txBody>
      </p:sp>
      <p:sp>
        <p:nvSpPr>
          <p:cNvPr id="7" name="Text 5"/>
          <p:cNvSpPr/>
          <p:nvPr/>
        </p:nvSpPr>
        <p:spPr>
          <a:xfrm>
            <a:off x="1353312" y="1463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53312" y="17739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排班 = 号源池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15968" y="1463040"/>
            <a:ext cx="6986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doctor_id · work_date · period · total_slots · booked_count · is_closed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432304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2624328"/>
            <a:ext cx="420624" cy="420624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624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96" dirty="0"/>
          </a:p>
        </p:txBody>
      </p:sp>
      <p:sp>
        <p:nvSpPr>
          <p:cNvPr id="13" name="Text 11"/>
          <p:cNvSpPr/>
          <p:nvPr/>
        </p:nvSpPr>
        <p:spPr>
          <a:xfrm>
            <a:off x="1353312" y="2505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53312" y="28163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预约 = 谁拿了哪个号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15968" y="2505456"/>
            <a:ext cx="6986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· schedule_id · seq_no · status · source · confirm_deadline · checked_in_at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474720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666744"/>
            <a:ext cx="420624" cy="420624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96" dirty="0"/>
          </a:p>
        </p:txBody>
      </p:sp>
      <p:sp>
        <p:nvSpPr>
          <p:cNvPr id="19" name="Text 17"/>
          <p:cNvSpPr/>
          <p:nvPr/>
        </p:nvSpPr>
        <p:spPr>
          <a:xfrm>
            <a:off x="1353312" y="35478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waitlist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353312" y="38587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候补 = 谁在排队等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15968" y="3547872"/>
            <a:ext cx="6986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· schedule_id · position · status · joined_at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553712"/>
            <a:ext cx="11055096" cy="1316736"/>
          </a:xfrm>
          <a:prstGeom prst="roundRect">
            <a:avLst>
              <a:gd name="adj" fmla="val 5556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6634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四条数据库约束（跨表一致性与业务规则兜不住，只能靠它）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4974336"/>
            <a:ext cx="10543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5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UNIQUE(schedule_id, seq_no) 一个号只能归一个人　·　UNIQUE(user_id, schedule_id) 同一排班一人一号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5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CHECK(0 &lt;= booked_count &lt;= total_slots) 记账不越界　·　CHECK(status IN (booked, pending, completed, cancelled, no_show))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难点一 · 号源状态从哪来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同一个问题如果被算三遍，就会出现三种答案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349240" cy="3529584"/>
          </a:xfrm>
          <a:prstGeom prst="roundRect">
            <a:avLst>
              <a:gd name="adj" fmla="val 2073"/>
            </a:avLst>
          </a:prstGeom>
          <a:solidFill>
            <a:srgbClr val="FDEAEA"/>
          </a:solidFill>
          <a:ln w="9525">
            <a:solidFill>
              <a:srgbClr val="F0B2B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727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　各算各的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" y="20299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列表接口自己算一遍剩余号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59536" y="24140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详情接口再算一遍剩余号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59536" y="27980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前端按「剩余 &gt; 0」自己判断能不能约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273552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三处口径一旦不一致，用户看到「还有号」，点进去却报「已约满」。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0488" y="1389888"/>
            <a:ext cx="5431536" cy="3529584"/>
          </a:xfrm>
          <a:prstGeom prst="roundRect">
            <a:avLst>
              <a:gd name="adj" fmla="val 2073"/>
            </a:avLst>
          </a:prstGeom>
          <a:solidFill>
            <a:srgbClr val="E9F7EF"/>
          </a:solidFill>
          <a:ln w="9525">
            <a:solidFill>
              <a:srgbClr val="A8DCB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15727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　只留一个出口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64808" y="202996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services/slot_status.py 单点派生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64808" y="24140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其余模块一律消费它的输出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64808" y="279806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前端只拿 status_label 渲染，不自行推导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28232" y="327355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三重编码：颜色 + 符号 + 文字。红绿色盲看到的不再是四个一样的灰块，黑白打印也不失效。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难点二 · 号会不会卖超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不靠「代码写得小心」，靠三层各司其职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1105509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591056"/>
            <a:ext cx="420624" cy="420624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96" dirty="0"/>
          </a:p>
        </p:txBody>
      </p:sp>
      <p:sp>
        <p:nvSpPr>
          <p:cNvPr id="7" name="Text 5"/>
          <p:cNvSpPr/>
          <p:nvPr/>
        </p:nvSpPr>
        <p:spPr>
          <a:xfrm>
            <a:off x="1353312" y="14996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应用层 · 条件 UPDATE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53312" y="1792224"/>
            <a:ext cx="9957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把判断写进 WHERE，再用受影响行数确认，杜绝「读—改—写」之间的窗口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53312" y="2084832"/>
            <a:ext cx="9957816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084832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schedules SET booked_count = booked_count + 1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5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schedule_id = ? AND booked_count &lt; total_slots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2706624"/>
            <a:ext cx="1105509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2871216"/>
            <a:ext cx="420624" cy="420624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871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96" dirty="0"/>
          </a:p>
        </p:txBody>
      </p:sp>
      <p:sp>
        <p:nvSpPr>
          <p:cNvPr id="14" name="Text 12"/>
          <p:cNvSpPr/>
          <p:nvPr/>
        </p:nvSpPr>
        <p:spPr>
          <a:xfrm>
            <a:off x="1353312" y="27797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事务层 · BEGIN IMMEDIATE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53312" y="3072384"/>
            <a:ext cx="9957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进事务即拿写锁，并发请求排队而不是互相踩踏；先校验再写，最后用行数确认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53312" y="3364992"/>
            <a:ext cx="9957816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3364992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IMMEDIATE;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5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校验 → 写号 → 记账 → 提交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" y="3986784"/>
            <a:ext cx="1105509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4151376"/>
            <a:ext cx="420624" cy="420624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96" dirty="0"/>
          </a:p>
        </p:txBody>
      </p:sp>
      <p:sp>
        <p:nvSpPr>
          <p:cNvPr id="21" name="Text 19"/>
          <p:cNvSpPr/>
          <p:nvPr/>
        </p:nvSpPr>
        <p:spPr>
          <a:xfrm>
            <a:off x="1353312" y="40599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数据库层 · 部分唯一索引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353312" y="4352544"/>
            <a:ext cx="9957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最后兜底：即使前面全漏了，重复数据也插不进去，宁可报错也不产生脏数据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53312" y="4645152"/>
            <a:ext cx="9957816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4645152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UNIQUE INDEX ux_appt_slot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5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appointments(schedule_id, seq_no)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" y="5175504"/>
            <a:ext cx="11055096" cy="713232"/>
          </a:xfrm>
          <a:prstGeom prst="roundRect">
            <a:avLst>
              <a:gd name="adj" fmla="val 10256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5175504"/>
            <a:ext cx="10543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任何一层单独失效，另外两层仍然兜得住 —— 这才是「防超卖」，而不是「希望不超卖」。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难点三 · 一条预约的一生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退号那一刻，递补与记账必须在同一个事务里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381244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48691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预约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" y="1993392"/>
            <a:ext cx="4832604" cy="475488"/>
          </a:xfrm>
          <a:prstGeom prst="roundRect">
            <a:avLst>
              <a:gd name="adj" fmla="val 13462"/>
            </a:avLst>
          </a:prstGeom>
          <a:solidFill>
            <a:srgbClr val="F5F7FA"/>
          </a:solidFill>
          <a:ln w="9525">
            <a:solidFill>
              <a:srgbClr val="1A6F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93392"/>
            <a:ext cx="4832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提交预约请求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47822" y="2468880"/>
            <a:ext cx="219456" cy="201168"/>
          </a:xfrm>
          <a:prstGeom prst="downArrow">
            <a:avLst/>
          </a:prstGeom>
          <a:solidFill>
            <a:srgbClr val="B8C4CC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2670048"/>
            <a:ext cx="4832604" cy="475488"/>
          </a:xfrm>
          <a:prstGeom prst="roundRect">
            <a:avLst>
              <a:gd name="adj" fmla="val 13462"/>
            </a:avLst>
          </a:prstGeom>
          <a:solidFill>
            <a:srgbClr val="F1F2F4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670048"/>
            <a:ext cx="4832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号源未满？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47822" y="3145536"/>
            <a:ext cx="219456" cy="201168"/>
          </a:xfrm>
          <a:prstGeom prst="downArrow">
            <a:avLst/>
          </a:prstGeom>
          <a:solidFill>
            <a:srgbClr val="B8C4CC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" y="3346704"/>
            <a:ext cx="4832604" cy="475488"/>
          </a:xfrm>
          <a:prstGeom prst="roundRect">
            <a:avLst>
              <a:gd name="adj" fmla="val 13462"/>
            </a:avLst>
          </a:prstGeom>
          <a:solidFill>
            <a:srgbClr val="F5F7FA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346704"/>
            <a:ext cx="4832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 → 直接出号 booked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47822" y="3822192"/>
            <a:ext cx="219456" cy="201168"/>
          </a:xfrm>
          <a:prstGeom prst="downArrow">
            <a:avLst/>
          </a:prstGeom>
          <a:solidFill>
            <a:srgbClr val="B8C4CC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4023360"/>
            <a:ext cx="4832604" cy="475488"/>
          </a:xfrm>
          <a:prstGeom prst="roundRect">
            <a:avLst>
              <a:gd name="adj" fmla="val 13462"/>
            </a:avLst>
          </a:prstGeom>
          <a:solidFill>
            <a:srgbClr val="F5F7FA"/>
          </a:solidFill>
          <a:ln w="9525">
            <a:solidFill>
              <a:srgbClr val="C056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023360"/>
            <a:ext cx="48326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否 → 进入候补队列 waiting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1248" y="4590288"/>
            <a:ext cx="48326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步是判定，③ ④ 是它的两个分支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40780" y="1389888"/>
            <a:ext cx="5381244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6812" y="1554480"/>
            <a:ext cx="48691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退号 → 自动递补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15100" y="1993392"/>
            <a:ext cx="4832604" cy="438912"/>
          </a:xfrm>
          <a:prstGeom prst="roundRect">
            <a:avLst>
              <a:gd name="adj" fmla="val 14583"/>
            </a:avLst>
          </a:prstGeom>
          <a:solidFill>
            <a:srgbClr val="F5F7FA"/>
          </a:solidFill>
          <a:ln w="9525">
            <a:solidFill>
              <a:srgbClr val="1A6F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5100" y="1993392"/>
            <a:ext cx="48326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用户退号，号源 -1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39962" y="2432304"/>
            <a:ext cx="182880" cy="164592"/>
          </a:xfrm>
          <a:prstGeom prst="downArrow">
            <a:avLst/>
          </a:prstGeom>
          <a:solidFill>
            <a:srgbClr val="B8C4CC"/>
          </a:solidFill>
          <a:ln/>
        </p:spPr>
      </p:sp>
      <p:sp>
        <p:nvSpPr>
          <p:cNvPr id="23" name="Shape 21"/>
          <p:cNvSpPr/>
          <p:nvPr/>
        </p:nvSpPr>
        <p:spPr>
          <a:xfrm>
            <a:off x="6515100" y="2596896"/>
            <a:ext cx="4832604" cy="438912"/>
          </a:xfrm>
          <a:prstGeom prst="roundRect">
            <a:avLst>
              <a:gd name="adj" fmla="val 14583"/>
            </a:avLst>
          </a:prstGeom>
          <a:solidFill>
            <a:srgbClr val="F5F7FA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5100" y="2596896"/>
            <a:ext cx="48326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腾出一个空号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39962" y="3035808"/>
            <a:ext cx="182880" cy="164592"/>
          </a:xfrm>
          <a:prstGeom prst="downArrow">
            <a:avLst/>
          </a:prstGeom>
          <a:solidFill>
            <a:srgbClr val="B8C4CC"/>
          </a:solidFill>
          <a:ln/>
        </p:spPr>
      </p:sp>
      <p:sp>
        <p:nvSpPr>
          <p:cNvPr id="26" name="Shape 24"/>
          <p:cNvSpPr/>
          <p:nvPr/>
        </p:nvSpPr>
        <p:spPr>
          <a:xfrm>
            <a:off x="6515100" y="3200400"/>
            <a:ext cx="4832604" cy="438912"/>
          </a:xfrm>
          <a:prstGeom prst="roundRect">
            <a:avLst>
              <a:gd name="adj" fmla="val 14583"/>
            </a:avLst>
          </a:prstGeom>
          <a:solidFill>
            <a:srgbClr val="F5F7FA"/>
          </a:solidFill>
          <a:ln w="9525">
            <a:solidFill>
              <a:srgbClr val="1A6F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5100" y="3200400"/>
            <a:ext cx="48326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取队首 → 防黄牛三条校验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39962" y="3639312"/>
            <a:ext cx="182880" cy="164592"/>
          </a:xfrm>
          <a:prstGeom prst="downArrow">
            <a:avLst/>
          </a:prstGeom>
          <a:solidFill>
            <a:srgbClr val="B8C4CC"/>
          </a:solidFill>
          <a:ln/>
        </p:spPr>
      </p:sp>
      <p:sp>
        <p:nvSpPr>
          <p:cNvPr id="29" name="Shape 27"/>
          <p:cNvSpPr/>
          <p:nvPr/>
        </p:nvSpPr>
        <p:spPr>
          <a:xfrm>
            <a:off x="6515100" y="3803904"/>
            <a:ext cx="4832604" cy="438912"/>
          </a:xfrm>
          <a:prstGeom prst="roundRect">
            <a:avLst>
              <a:gd name="adj" fmla="val 14583"/>
            </a:avLst>
          </a:prstGeom>
          <a:solidFill>
            <a:srgbClr val="FDF2E7"/>
          </a:solidFill>
          <a:ln w="9525">
            <a:solidFill>
              <a:srgbClr val="C0562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5100" y="3803904"/>
            <a:ext cx="48326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 → 转正确认 pending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839962" y="4242816"/>
            <a:ext cx="182880" cy="164592"/>
          </a:xfrm>
          <a:prstGeom prst="downArrow">
            <a:avLst/>
          </a:prstGeom>
          <a:solidFill>
            <a:srgbClr val="B8C4CC"/>
          </a:solidFill>
          <a:ln/>
        </p:spPr>
      </p:sp>
      <p:sp>
        <p:nvSpPr>
          <p:cNvPr id="32" name="Shape 30"/>
          <p:cNvSpPr/>
          <p:nvPr/>
        </p:nvSpPr>
        <p:spPr>
          <a:xfrm>
            <a:off x="6515100" y="4407408"/>
            <a:ext cx="4832604" cy="438912"/>
          </a:xfrm>
          <a:prstGeom prst="roundRect">
            <a:avLst>
              <a:gd name="adj" fmla="val 14583"/>
            </a:avLst>
          </a:prstGeom>
          <a:solidFill>
            <a:srgbClr val="E9F7EF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5100" y="4407408"/>
            <a:ext cx="48326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分钟内确认 → booked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839962" y="4846320"/>
            <a:ext cx="182880" cy="164592"/>
          </a:xfrm>
          <a:prstGeom prst="downArrow">
            <a:avLst/>
          </a:prstGeom>
          <a:solidFill>
            <a:srgbClr val="B8C4CC"/>
          </a:solidFill>
          <a:ln/>
        </p:spPr>
      </p:sp>
      <p:sp>
        <p:nvSpPr>
          <p:cNvPr id="35" name="Shape 33"/>
          <p:cNvSpPr/>
          <p:nvPr/>
        </p:nvSpPr>
        <p:spPr>
          <a:xfrm>
            <a:off x="6515100" y="5010912"/>
            <a:ext cx="4832604" cy="438912"/>
          </a:xfrm>
          <a:prstGeom prst="roundRect">
            <a:avLst>
              <a:gd name="adj" fmla="val 14583"/>
            </a:avLst>
          </a:prstGeom>
          <a:solidFill>
            <a:srgbClr val="FDEAEA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5100" y="5010912"/>
            <a:ext cx="48326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超时 / 不合格 → 作废，顺延下一位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难点四 · 没有定时任务，过期怎么办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确认超时 15 分钟、爽约判定 —— 到点的那一刻谁去改状态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349240" cy="1389888"/>
          </a:xfrm>
          <a:prstGeom prst="roundRect">
            <a:avLst>
              <a:gd name="adj" fmla="val 5263"/>
            </a:avLst>
          </a:prstGeom>
          <a:solidFill>
            <a:srgbClr val="FDEAEA"/>
          </a:solidFill>
          <a:ln w="9525">
            <a:solidFill>
              <a:srgbClr val="F0B2B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865376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「超过 15 分钟没确认就作废」—— 但没人盯着时钟，状态不会自己变。要不要起一个后台定时任务？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90488" y="1389888"/>
            <a:ext cx="5431536" cy="1389888"/>
          </a:xfrm>
          <a:prstGeom prst="roundRect">
            <a:avLst>
              <a:gd name="adj" fmla="val 5263"/>
            </a:avLst>
          </a:prstGeom>
          <a:solidFill>
            <a:srgbClr val="E9F7EF"/>
          </a:solidFill>
          <a:ln w="9525">
            <a:solidFill>
              <a:srgbClr val="A8DCB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554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 · 惰性结算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28232" y="1865376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不起后台进程。等下一个相关请求进来时，顺带把该结算的结算掉。结算只依赖「时间比较」，不依赖定时器。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999232"/>
            <a:ext cx="11055096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1638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四个触发点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529584"/>
            <a:ext cx="2484882" cy="713232"/>
          </a:xfrm>
          <a:prstGeom prst="roundRect">
            <a:avLst>
              <a:gd name="adj" fmla="val 8974"/>
            </a:avLst>
          </a:prstGeom>
          <a:solidFill>
            <a:srgbClr val="E8F2FB"/>
          </a:solidFill>
          <a:ln w="9525">
            <a:solidFill>
              <a:srgbClr val="1A6F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29584"/>
            <a:ext cx="24848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/api/appointments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09010" y="3529584"/>
            <a:ext cx="2484882" cy="713232"/>
          </a:xfrm>
          <a:prstGeom prst="roundRect">
            <a:avLst>
              <a:gd name="adj" fmla="val 8974"/>
            </a:avLst>
          </a:prstGeom>
          <a:solidFill>
            <a:srgbClr val="E8F2FB"/>
          </a:solidFill>
          <a:ln w="9525">
            <a:solidFill>
              <a:srgbClr val="1A6F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9010" y="3529584"/>
            <a:ext cx="24848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9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/api/appointments/{id}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95060" y="3529584"/>
            <a:ext cx="2484882" cy="713232"/>
          </a:xfrm>
          <a:prstGeom prst="roundRect">
            <a:avLst>
              <a:gd name="adj" fmla="val 8974"/>
            </a:avLst>
          </a:prstGeom>
          <a:solidFill>
            <a:srgbClr val="E8F2FB"/>
          </a:solidFill>
          <a:ln w="9525">
            <a:solidFill>
              <a:srgbClr val="1A6F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5060" y="3529584"/>
            <a:ext cx="24848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/api/my/appointments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81110" y="3529584"/>
            <a:ext cx="2484882" cy="713232"/>
          </a:xfrm>
          <a:prstGeom prst="roundRect">
            <a:avLst>
              <a:gd name="adj" fmla="val 8974"/>
            </a:avLst>
          </a:prstGeom>
          <a:solidFill>
            <a:srgbClr val="E8F2FB"/>
          </a:solidFill>
          <a:ln w="9525">
            <a:solidFill>
              <a:srgbClr val="1A6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81110" y="3529584"/>
            <a:ext cx="24848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/api/admin/settle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4663440"/>
            <a:ext cx="11055096" cy="1207008"/>
          </a:xfrm>
          <a:prstGeom prst="roundRect">
            <a:avLst>
              <a:gd name="adj" fmla="val 6061"/>
            </a:avLst>
          </a:prstGeom>
          <a:solidFill>
            <a:srgbClr val="FDF2E7"/>
          </a:solidFill>
          <a:ln w="9525">
            <a:solidFill>
              <a:srgbClr val="F0C99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80974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踩到的坑：结算与判断必须分两个事务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1206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确认接口里如果「先结算、再校验」，校验抛异常会把整个事务回滚 —— 刚刚作废的号又活了过来。正确做法是：先结算并提交，再开第二个事务做确认判断。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加分项 · 五个，全做了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原计划三选二，最后五个都实现了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5096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675741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加分项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落在哪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退号冷却期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分钟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guards.assert_not_in_cooldown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转正确认超时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分钟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booking._settle_expired_pending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就诊签到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当天可签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booking.check_in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取消时限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开诊前 120 分钟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guards.assert_cancel_window_open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爽约累计拉黑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累计 2 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booking._bump_no_show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498848"/>
            <a:ext cx="11055096" cy="1371600"/>
          </a:xfrm>
          <a:prstGeom prst="roundRect">
            <a:avLst>
              <a:gd name="adj" fmla="val 5333"/>
            </a:avLst>
          </a:prstGeom>
          <a:solidFill>
            <a:srgbClr val="E8F2FB"/>
          </a:solidFill>
          <a:ln w="9525">
            <a:solidFill>
              <a:srgbClr val="B8D6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4498848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五个加分项共用一个「超时」语义，所以阈值全部收在 policy.py，测试全部走 clock.py 拨时间 —— 没有一处需要真等。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五个加分项的两块地基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先建地基再盖楼，否则五条规则要写五套时间逻辑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390388" cy="2889504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09344"/>
            <a:ext cx="438912" cy="438912"/>
          </a:xfrm>
          <a:prstGeom prst="ellipse">
            <a:avLst/>
          </a:prstGeom>
          <a:solidFill>
            <a:srgbClr val="1A6FB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48" dirty="0"/>
          </a:p>
        </p:txBody>
      </p:sp>
      <p:sp>
        <p:nvSpPr>
          <p:cNvPr id="7" name="Text 5"/>
          <p:cNvSpPr/>
          <p:nvPr/>
        </p:nvSpPr>
        <p:spPr>
          <a:xfrm>
            <a:off x="1389888" y="1627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policy.py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89888" y="1920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参数中心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77824" y="2340864"/>
            <a:ext cx="4768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确认超时 15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" y="2706624"/>
            <a:ext cx="4768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退号冷却 10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" y="3072384"/>
            <a:ext cx="4768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取消时限 120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" y="3438144"/>
            <a:ext cx="4768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爽约 2 次拉黑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" y="3803904"/>
            <a:ext cx="4768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时段起点映射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1636" y="1389888"/>
            <a:ext cx="5390388" cy="2889504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87668" y="1609344"/>
            <a:ext cx="438912" cy="438912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16" name="Text 14"/>
          <p:cNvSpPr/>
          <p:nvPr/>
        </p:nvSpPr>
        <p:spPr>
          <a:xfrm>
            <a:off x="6487668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48" dirty="0"/>
          </a:p>
        </p:txBody>
      </p:sp>
      <p:sp>
        <p:nvSpPr>
          <p:cNvPr id="17" name="Text 15"/>
          <p:cNvSpPr/>
          <p:nvPr/>
        </p:nvSpPr>
        <p:spPr>
          <a:xfrm>
            <a:off x="7054596" y="1627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clock.py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54596" y="1920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可注入时钟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42532" y="2340864"/>
            <a:ext cx="4768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把整个系统的「现在」拨到任意时刻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42532" y="2706624"/>
            <a:ext cx="4768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freeze() / advance() 覆盖 Python 与 SQL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42532" y="3072384"/>
            <a:ext cx="4768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不拨时间也能测的，就不拨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怎么证明它是对的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条测试 · 真并发 · 变异测试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2585466" cy="2615184"/>
          </a:xfrm>
          <a:prstGeom prst="roundRect">
            <a:avLst>
              <a:gd name="adj" fmla="val 2829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55648"/>
            <a:ext cx="25854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2450592"/>
            <a:ext cx="2585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条测试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2834640"/>
            <a:ext cx="21831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条原有 + 24 条加分项新增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0138" y="1536192"/>
            <a:ext cx="2585466" cy="2615184"/>
          </a:xfrm>
          <a:prstGeom prst="roundRect">
            <a:avLst>
              <a:gd name="adj" fmla="val 2829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90138" y="1755648"/>
            <a:ext cx="25854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真进程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390138" y="2450592"/>
            <a:ext cx="2585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并发验证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91306" y="2834640"/>
            <a:ext cx="21831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uvicorn + Barrier 对齐起跑线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3348" y="1536192"/>
            <a:ext cx="2585466" cy="2615184"/>
          </a:xfrm>
          <a:prstGeom prst="roundRect">
            <a:avLst>
              <a:gd name="adj" fmla="val 2829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3348" y="1755648"/>
            <a:ext cx="25854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个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213348" y="2450592"/>
            <a:ext cx="2585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变异体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14516" y="2834640"/>
            <a:ext cx="21831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故意写错，确认检查确实会变红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36558" y="1536192"/>
            <a:ext cx="2585466" cy="2615184"/>
          </a:xfrm>
          <a:prstGeom prst="roundRect">
            <a:avLst>
              <a:gd name="adj" fmla="val 2829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36558" y="1755648"/>
            <a:ext cx="25854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项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036558" y="2450592"/>
            <a:ext cx="2585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自洽校验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37726" y="2834640"/>
            <a:ext cx="21831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内置进 reset_db.py，每次重建自检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407408"/>
            <a:ext cx="11055096" cy="1463040"/>
          </a:xfrm>
          <a:prstGeom prst="roundRect">
            <a:avLst>
              <a:gd name="adj" fmla="val 5000"/>
            </a:avLst>
          </a:prstGeom>
          <a:solidFill>
            <a:srgbClr val="FDF2E7"/>
          </a:solidFill>
          <a:ln w="9525">
            <a:solidFill>
              <a:srgbClr val="F0C99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55371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并发测试不用 TestClient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864608"/>
            <a:ext cx="105430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TestClient 会把并发请求串行化，十个人「同时」抢号在它眼里是依次执行 —— 这样测出来永远是绿的，什么问题都发现不了。所以并发用例起真实 uvicorn 进程，再用 Barrier 让所有线程在同一时刻发起请求。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我犯过的错，和我没做的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三次栽在同一个地方；取舍不藏，主动交代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349240" cy="4443984"/>
          </a:xfrm>
          <a:prstGeom prst="roundRect">
            <a:avLst>
              <a:gd name="adj" fmla="val 1646"/>
            </a:avLst>
          </a:prstGeom>
          <a:solidFill>
            <a:srgbClr val="FDEAEA"/>
          </a:solidFill>
          <a:ln w="9525">
            <a:solidFill>
              <a:srgbClr val="F0B2B2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727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三次栽在同一个地方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错误码漏登记 errors.py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9264" y="2267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本该返回 409 的冲突，被兜成了 400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9536" y="26883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测试工具硬编码状态清单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9264" y="29443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 pending 后并发测试直接报 3≠6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59536" y="3364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文档契约滞后于代码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9264" y="36210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API.md 里 promoted 还是 R3 的形状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133088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共同点：改动扩散到一个没人提醒你的地方，而那里恰恰是别人唯一的依据。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0488" y="1389888"/>
            <a:ext cx="5431536" cy="444398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5727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我没做的，以及为什么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83096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不做真实鉴权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92824" y="2267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只认 X-User-Id 请求头，登录是模拟的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83096" y="26883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管理接口无鉴权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92824" y="29443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admin/* 为演示而生，公网环境必须补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83096" y="3364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结算是惰性的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92824" y="36210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没有后台定时任务，靠请求顺带触发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83096" y="40416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单文件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92824" y="4297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不做分库分表；上公网需换 PostgreSQL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3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04672" y="180136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44" dirty="0"/>
          </a:p>
        </p:txBody>
      </p:sp>
      <p:sp>
        <p:nvSpPr>
          <p:cNvPr id="5" name="Text 3"/>
          <p:cNvSpPr/>
          <p:nvPr/>
        </p:nvSpPr>
        <p:spPr>
          <a:xfrm>
            <a:off x="1371600" y="17830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一个正确的核心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80560" y="178308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状态只有一处计算，口径永远一致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4672" y="258775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44" dirty="0"/>
          </a:p>
        </p:txBody>
      </p:sp>
      <p:sp>
        <p:nvSpPr>
          <p:cNvPr id="9" name="Text 7"/>
          <p:cNvSpPr/>
          <p:nvPr/>
        </p:nvSpPr>
        <p:spPr>
          <a:xfrm>
            <a:off x="1371600" y="256946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一条可靠的防线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80560" y="2569464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三层防超卖，靠约束而不是靠自觉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" y="3374136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374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44" dirty="0"/>
          </a:p>
        </p:txBody>
      </p:sp>
      <p:sp>
        <p:nvSpPr>
          <p:cNvPr id="13" name="Text 11"/>
          <p:cNvSpPr/>
          <p:nvPr/>
        </p:nvSpPr>
        <p:spPr>
          <a:xfrm>
            <a:off x="1371600" y="33558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一种可测的设计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80560" y="3355848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可注入时钟 + 参数中心，超时规则不必真等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526280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0A4A5A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526280"/>
            <a:ext cx="7955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代码仓库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github.com/mzy13995318878/hospital-appointment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58064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　·　欢迎提问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数媒程序开发组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医院门诊号源预约与候补系统 · 考核答辩</dc:title>
  <dc:subject>10 月考核</dc:subject>
  <dc:creator>mzy13995318878</dc:creator>
  <cp:lastModifiedBy>mzy13995318878</cp:lastModifiedBy>
  <cp:revision>1</cp:revision>
  <dcterms:created xsi:type="dcterms:W3CDTF">2026-10-26T10:37:18Z</dcterms:created>
  <dcterms:modified xsi:type="dcterms:W3CDTF">2026-10-26T10:37:18Z</dcterms:modified>
</cp:coreProperties>
</file>